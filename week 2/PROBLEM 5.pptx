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63" r:id="rId2"/>
    <p:sldId id="257" r:id="rId3"/>
    <p:sldId id="261" r:id="rId4"/>
    <p:sldId id="262" r:id="rId5"/>
    <p:sldId id="258" r:id="rId6"/>
    <p:sldId id="265" r:id="rId7"/>
    <p:sldId id="259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Carbon Dioxide Emissions</a:t>
            </a:r>
          </a:p>
          <a:p>
            <a:pPr>
              <a:defRPr/>
            </a:pPr>
            <a:r>
              <a:rPr lang="en-US" dirty="0"/>
              <a:t>Worst 5 Countries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Emissions (MtCO2)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4000"/>
                    <a:satMod val="103000"/>
                    <a:lumMod val="102000"/>
                  </a:schemeClr>
                </a:gs>
                <a:gs pos="50000">
                  <a:schemeClr val="accent1">
                    <a:shade val="100000"/>
                    <a:satMod val="110000"/>
                    <a:lumMod val="100000"/>
                  </a:schemeClr>
                </a:gs>
                <a:gs pos="100000">
                  <a:schemeClr val="accent1">
                    <a:shade val="78000"/>
                    <a:satMod val="120000"/>
                    <a:lumMod val="99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China</c:v>
                </c:pt>
                <c:pt idx="1">
                  <c:v>United States</c:v>
                </c:pt>
                <c:pt idx="2">
                  <c:v>India</c:v>
                </c:pt>
                <c:pt idx="3">
                  <c:v>Russia</c:v>
                </c:pt>
                <c:pt idx="4">
                  <c:v>Japan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10668</c:v>
                </c:pt>
                <c:pt idx="1">
                  <c:v>4713</c:v>
                </c:pt>
                <c:pt idx="2">
                  <c:v>2442</c:v>
                </c:pt>
                <c:pt idx="3">
                  <c:v>1577</c:v>
                </c:pt>
                <c:pt idx="4">
                  <c:v>1031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91-4E60-9380-2F4ECC341E4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339789775"/>
        <c:axId val="1295494607"/>
      </c:barChart>
      <c:catAx>
        <c:axId val="13397897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5494607"/>
        <c:crosses val="autoZero"/>
        <c:auto val="1"/>
        <c:lblAlgn val="ctr"/>
        <c:lblOffset val="100"/>
        <c:noMultiLvlLbl val="0"/>
      </c:catAx>
      <c:valAx>
        <c:axId val="1295494607"/>
        <c:scaling>
          <c:orientation val="minMax"/>
          <c:max val="12500"/>
          <c:min val="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9789775"/>
        <c:crosses val="autoZero"/>
        <c:crossBetween val="between"/>
        <c:majorUnit val="25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CDB8EA-C31F-45A0-97AC-756ADAD9276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83F217-8C27-4FD3-9574-98FD8A891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856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3F217-8C27-4FD3-9574-98FD8A891E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372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3F217-8C27-4FD3-9574-98FD8A891E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22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FC04F-D870-445F-B3EB-2BFE9A755204}" type="datetime12">
              <a:rPr lang="en-US" smtClean="0"/>
              <a:t>2:59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Mohd Rameez Khan 24CAMSA124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00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57D98-6980-437E-B67E-9D7882560AA6}" type="datetime12">
              <a:rPr lang="en-US" smtClean="0"/>
              <a:t>2:59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Mohd Rameez Khan 24CAMSA124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75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53F33-3244-446F-BE90-D05B0AD89873}" type="datetime12">
              <a:rPr lang="en-US" smtClean="0"/>
              <a:t>2:59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Mohd Rameez Khan 24CAMSA124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9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B257-D348-4FBE-BF11-F2ABEBDD7B50}" type="datetime12">
              <a:rPr lang="en-US" smtClean="0"/>
              <a:t>2:59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Mohd Rameez Khan 24CAMSA124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74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EB76E-51FD-45C8-B125-70CFEF23D99A}" type="datetime12">
              <a:rPr lang="en-US" smtClean="0"/>
              <a:t>2:59 PM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Mohd Rameez Khan 24CAMSA124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7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092DE-2B2C-4022-A25F-4890C384FA03}" type="datetime12">
              <a:rPr lang="en-US" smtClean="0"/>
              <a:t>2:59 PM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Mohd Rameez Khan 24CAMSA124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61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1B77C-5928-491C-8F30-4E7A9ACA1C33}" type="datetime12">
              <a:rPr lang="en-US" smtClean="0"/>
              <a:t>2:59 PM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Mohd Rameez Khan 24CAMSA124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11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10241-9613-43B5-BA74-F2D6D5C973A2}" type="datetime12">
              <a:rPr lang="en-US" smtClean="0"/>
              <a:t>2:59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Mohd Rameez Khan 24CAMSA124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1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8002-7237-4C8A-9F6B-CF57B28E7D66}" type="datetime12">
              <a:rPr lang="en-US" smtClean="0"/>
              <a:t>2:59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Mohd Rameez Khan 24CAMSA124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20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2440-1607-4EEB-B5EF-F2A132A85F08}" type="datetime12">
              <a:rPr lang="en-US" smtClean="0"/>
              <a:t>2:59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Mohd Rameez Khan 24CAMSA124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00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28AE4-9A93-41C1-80CE-1C6B6FB69DC7}" type="datetime12">
              <a:rPr lang="en-US" smtClean="0"/>
              <a:t>2:59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Mohd Rameez Khan 24CAMSA124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31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45254-D4A7-4CB3-8EF5-438AFBCA04B7}" type="datetime12">
              <a:rPr lang="en-US" smtClean="0"/>
              <a:t>2:59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Mohd Rameez Khan 24CAMSA124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406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062BC-6C38-4DFB-9D03-B06C673EFED7}" type="datetime12">
              <a:rPr lang="en-US" smtClean="0"/>
              <a:t>2:59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Mohd Rameez Khan 24CAMSA124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0058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F7D7-F50F-4D36-B082-32C5FDA4D952}" type="datetime12">
              <a:rPr lang="en-US" smtClean="0"/>
              <a:t>2:59 PM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Mohd Rameez Khan 24CAMSA124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25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7EE9-FB6C-48F9-B1C9-7A8CA577F39D}" type="datetime12">
              <a:rPr lang="en-US" smtClean="0"/>
              <a:t>2:59 PM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Mohd Rameez Khan 24CAMSA124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067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39A06-5D25-43E1-8BED-AB2BA7919462}" type="datetime12">
              <a:rPr lang="en-US" smtClean="0"/>
              <a:t>2:59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Mohd Rameez Khan 24CAMSA124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937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3A065F43-2E15-45F0-AFA5-D07600E7CDBB}" type="datetime12">
              <a:rPr lang="en-US" smtClean="0"/>
              <a:t>2:59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r>
              <a:rPr lang="en-US"/>
              <a:t>Mohd Rameez Khan 24CAMSA124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24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5B2FC-8C5A-4B77-A32E-C16A3BD3D789}" type="datetime12">
              <a:rPr lang="en-US" smtClean="0"/>
              <a:t>2:59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Mohd Rameez Khan 24CAMSA124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E62B0-BF23-499B-81C6-32A998551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467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heroundup.org/co2-greenhouse-gas-emission-statistics/" TargetMode="External"/><Relationship Id="rId2" Type="http://schemas.openxmlformats.org/officeDocument/2006/relationships/hyperlink" Target="https://www.un.org/en/climatechange/what-is-climate-chang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hesolutionsproject.org/info/climate-change-solutions/" TargetMode="External"/><Relationship Id="rId5" Type="http://schemas.openxmlformats.org/officeDocument/2006/relationships/hyperlink" Target="https://www.un.org/en/climatechange/science/causes-effects-climate-change#:~:text=More%20health%20risks&amp;text=Climate%20impacts%20are%20already%20harming,grow%20or%20find%20sufficient%20food." TargetMode="External"/><Relationship Id="rId4" Type="http://schemas.openxmlformats.org/officeDocument/2006/relationships/hyperlink" Target="https://www.unep.org/news-and-stories/story/debunking-eight-common-myths-about-climate-change#:~:text=Myth%20%235%3A%20Scientists%20disagree%20on%20the%20cause%20of%20climate%20change.&amp;text=%E2%80%9CThe%20idea%20that%20there%20is,It%20is%20caused%20by%20humans.%E2%80%9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CFD6F-617A-BB68-3CD4-9A69F1F2942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184635" y="274218"/>
            <a:ext cx="5024438" cy="836613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IN" sz="2000" b="1" i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t>DEPARTMENT OF COMPUTER SCIENCE</a:t>
            </a:r>
            <a:br>
              <a:rPr kumimoji="0" lang="en-US" sz="2000" b="1" i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</a:br>
            <a:r>
              <a:rPr kumimoji="0" lang="en-IN" sz="2000" b="1" i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t>ALIGARH MUSLIM UNIVERSITY, ALIGARH</a:t>
            </a:r>
            <a:endParaRPr lang="en-US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2F4714-0A58-1305-AD28-9A572CFFE15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458463" y="3184481"/>
            <a:ext cx="8674100" cy="23860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Week #2 </a:t>
            </a:r>
          </a:p>
          <a:p>
            <a:pPr marL="0" indent="0" algn="ctr">
              <a:buNone/>
            </a:pPr>
            <a:r>
              <a:rPr lang="en-US" sz="4000" b="1" dirty="0"/>
              <a:t>5</a:t>
            </a:r>
            <a:r>
              <a:rPr lang="en-US" sz="4000" b="1" dirty="0">
                <a:solidFill>
                  <a:schemeClr val="tx1"/>
                </a:solidFill>
              </a:rPr>
              <a:t># Presentation (CAMS-1P01)</a:t>
            </a:r>
            <a:endParaRPr lang="en-US" sz="8000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4800" b="1" dirty="0"/>
              <a:t>Climate Change</a:t>
            </a:r>
            <a:endParaRPr lang="en-US" sz="48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409326-FB4C-32F4-0FDC-3A5875896EA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9272" y="1243514"/>
            <a:ext cx="2132481" cy="1940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D6736F-2C39-B723-F776-C66EB20B24FB}"/>
              </a:ext>
            </a:extLst>
          </p:cNvPr>
          <p:cNvSpPr txBox="1"/>
          <p:nvPr/>
        </p:nvSpPr>
        <p:spPr>
          <a:xfrm>
            <a:off x="2218124" y="5556285"/>
            <a:ext cx="35773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u="sng" dirty="0"/>
              <a:t>Presented By </a:t>
            </a:r>
          </a:p>
          <a:p>
            <a:r>
              <a:rPr lang="en-US" sz="2800" u="sng" dirty="0"/>
              <a:t>ALI SAQULAIN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3F4659-996A-31BB-06DB-63D537A9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20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C820C-5633-B973-3FAC-C1DBEE37F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u="sng" dirty="0">
                <a:solidFill>
                  <a:schemeClr val="tx1"/>
                </a:solidFill>
                <a:latin typeface="+mn-lt"/>
              </a:rPr>
              <a:t>Table Of Contents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5F5C5-2A63-6DB2-66A9-DD3A7948D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1.  Introduction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2.  </a:t>
            </a:r>
            <a:r>
              <a:rPr lang="en-US" dirty="0"/>
              <a:t>Climate Change Infographic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3.  Debunking Myths</a:t>
            </a:r>
          </a:p>
          <a:p>
            <a:pPr marL="457200" indent="-457200" algn="just">
              <a:buAutoNum type="arabicPeriod" startAt="4"/>
            </a:pPr>
            <a:r>
              <a:rPr lang="en-US" dirty="0">
                <a:solidFill>
                  <a:schemeClr val="tx1"/>
                </a:solidFill>
              </a:rPr>
              <a:t>Risk and Reversing Factors</a:t>
            </a:r>
          </a:p>
          <a:p>
            <a:pPr marL="457200" indent="-457200" algn="just">
              <a:buFont typeface="Arial" panose="020B0604020202020204" pitchFamily="34" charset="0"/>
              <a:buAutoNum type="arabicPeriod" startAt="4"/>
            </a:pPr>
            <a:r>
              <a:rPr lang="en-US" dirty="0">
                <a:solidFill>
                  <a:schemeClr val="tx1"/>
                </a:solidFill>
              </a:rPr>
              <a:t>Conclusion</a:t>
            </a:r>
          </a:p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AC6108-5F07-11EA-B5A6-6194D5D0D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26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65419-1843-3227-5E9B-10D95D9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06" y="898271"/>
            <a:ext cx="9613861" cy="1080938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1.</a:t>
            </a:r>
            <a:r>
              <a:rPr lang="en-US" sz="3200" b="1" dirty="0"/>
              <a:t> </a:t>
            </a:r>
            <a:r>
              <a:rPr lang="en-US" sz="4400" b="1" dirty="0"/>
              <a:t>Introduction</a:t>
            </a:r>
            <a:br>
              <a:rPr lang="en-US" sz="32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BCB53-E2F8-4D78-F221-24CB73AB2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614" y="2131499"/>
            <a:ext cx="6496783" cy="4250382"/>
          </a:xfrm>
        </p:spPr>
        <p:txBody>
          <a:bodyPr>
            <a:noAutofit/>
          </a:bodyPr>
          <a:lstStyle/>
          <a:p>
            <a:r>
              <a:rPr lang="en-US" sz="1800" dirty="0"/>
              <a:t>Climate change refers to long-term shifts in temperatures and weather patterns. </a:t>
            </a:r>
          </a:p>
          <a:p>
            <a:r>
              <a:rPr lang="en-US" sz="1800" dirty="0"/>
              <a:t>Since the 1800s, human </a:t>
            </a:r>
            <a:r>
              <a:rPr lang="en-US" sz="1800" dirty="0" err="1"/>
              <a:t>activites</a:t>
            </a:r>
            <a:r>
              <a:rPr lang="en-US" sz="1800" dirty="0"/>
              <a:t> have been the main driver of climate change, primarily due to the burning of fossil fuels like coal, oil and gas.</a:t>
            </a:r>
          </a:p>
          <a:p>
            <a:r>
              <a:rPr lang="en-US" sz="1800" dirty="0"/>
              <a:t>Burning fossil fuels generates greenhouse gas emissions that act like a blanket wrapped around the Earth, trapping the sun’s heat and raising temperatures.</a:t>
            </a:r>
          </a:p>
          <a:p>
            <a:r>
              <a:rPr lang="en-US" sz="1800" dirty="0"/>
              <a:t>The main greenhouse gases that are causing climate change include carbon dioxide and methane. </a:t>
            </a:r>
          </a:p>
          <a:p>
            <a:r>
              <a:rPr lang="en-US" sz="1800" dirty="0"/>
              <a:t>These come from using gasoline for driving a car or coal for heating a building, for example. </a:t>
            </a:r>
          </a:p>
          <a:p>
            <a:r>
              <a:rPr lang="en-US" sz="1800" dirty="0"/>
              <a:t>Energy, industry, transport, buildings, agriculture and land use are among the main sectors causing greenhouse gases.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5000C9-634D-41E1-27DF-C1B6D372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86255" y="6213660"/>
            <a:ext cx="2743200" cy="365125"/>
          </a:xfrm>
        </p:spPr>
        <p:txBody>
          <a:bodyPr/>
          <a:lstStyle/>
          <a:p>
            <a:fld id="{5D8D5AC6-6163-4C71-B3F9-75F9F08394FF}" type="datetime12">
              <a:rPr lang="en-US" smtClean="0"/>
              <a:t>2:59 PM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613B3E-BAAE-4859-2DA8-D31D2BC21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3115" y="6301312"/>
            <a:ext cx="6870660" cy="365125"/>
          </a:xfrm>
        </p:spPr>
        <p:txBody>
          <a:bodyPr/>
          <a:lstStyle/>
          <a:p>
            <a:r>
              <a:rPr lang="en-US" dirty="0"/>
              <a:t>Created By ALI SAQULAIN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892550-5E13-1FC4-2E61-5697AA117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2" descr="What Is Climate Change? | United Nations">
            <a:extLst>
              <a:ext uri="{FF2B5EF4-FFF2-40B4-BE49-F238E27FC236}">
                <a16:creationId xmlns:a16="http://schemas.microsoft.com/office/drawing/2014/main" id="{46181DA8-1614-4C95-AD4F-A85012BB3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8529" y="2671835"/>
            <a:ext cx="3959509" cy="2578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692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F554-F9CC-B3C5-4401-FF7D84180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2" y="873046"/>
            <a:ext cx="9613861" cy="1080938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2. Climate Change Infographic</a:t>
            </a:r>
            <a:br>
              <a:rPr lang="en-US" sz="2800" dirty="0"/>
            </a:b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93F97331-207C-B513-F11B-763898F10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8248" y="6394494"/>
            <a:ext cx="6870660" cy="365125"/>
          </a:xfrm>
        </p:spPr>
        <p:txBody>
          <a:bodyPr/>
          <a:lstStyle/>
          <a:p>
            <a:r>
              <a:rPr lang="en-US" dirty="0"/>
              <a:t>Created BY ALI SAQULAIN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9725EA2-674B-C90E-FAA1-2E3589DE1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4</a:t>
            </a:fld>
            <a:endParaRPr lang="en-US"/>
          </a:p>
        </p:txBody>
      </p:sp>
      <p:sp>
        <p:nvSpPr>
          <p:cNvPr id="25" name="Date Placeholder 8">
            <a:extLst>
              <a:ext uri="{FF2B5EF4-FFF2-40B4-BE49-F238E27FC236}">
                <a16:creationId xmlns:a16="http://schemas.microsoft.com/office/drawing/2014/main" id="{5BFFDBB5-DCA5-C249-740A-ACE9FABB9E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57526" y="6357830"/>
            <a:ext cx="2743200" cy="365125"/>
          </a:xfrm>
        </p:spPr>
        <p:txBody>
          <a:bodyPr/>
          <a:lstStyle/>
          <a:p>
            <a:fld id="{DE8F5A37-7369-4859-A8CB-2532AE84DA17}" type="datetime12">
              <a:rPr lang="en-US" smtClean="0"/>
              <a:t>2:59 PM</a:t>
            </a:fld>
            <a:endParaRPr lang="en-US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599902CC-2D00-616F-D0E6-3FCEE006F9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0260761"/>
              </p:ext>
            </p:extLst>
          </p:nvPr>
        </p:nvGraphicFramePr>
        <p:xfrm>
          <a:off x="681038" y="2336800"/>
          <a:ext cx="9613900" cy="3598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1418737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FDCE9-05EB-B306-5D38-C623D0CC5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18" y="854127"/>
            <a:ext cx="9613861" cy="1080938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3. Debunking Myths</a:t>
            </a:r>
            <a:br>
              <a:rPr lang="en-US" sz="2800" dirty="0"/>
            </a:b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40B883-2F11-309C-ADC5-B2692592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3929" y="6396542"/>
            <a:ext cx="6870660" cy="365125"/>
          </a:xfrm>
        </p:spPr>
        <p:txBody>
          <a:bodyPr/>
          <a:lstStyle/>
          <a:p>
            <a:r>
              <a:rPr lang="en-US" dirty="0"/>
              <a:t>Created ALI SAQULAIN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15ED308-D211-D455-B3DC-C6684D69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5</a:t>
            </a:fld>
            <a:endParaRPr lang="en-US"/>
          </a:p>
        </p:txBody>
      </p:sp>
      <p:sp>
        <p:nvSpPr>
          <p:cNvPr id="11" name="Date Placeholder 8">
            <a:extLst>
              <a:ext uri="{FF2B5EF4-FFF2-40B4-BE49-F238E27FC236}">
                <a16:creationId xmlns:a16="http://schemas.microsoft.com/office/drawing/2014/main" id="{F9F3A559-516F-8CEE-1DD1-7BACEC69EB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64871" y="6435593"/>
            <a:ext cx="2743200" cy="365125"/>
          </a:xfrm>
        </p:spPr>
        <p:txBody>
          <a:bodyPr/>
          <a:lstStyle/>
          <a:p>
            <a:fld id="{DE8F5A37-7369-4859-A8CB-2532AE84DA17}" type="datetime12">
              <a:rPr lang="en-US" smtClean="0"/>
              <a:t>2:59 PM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02E8019-A248-DC14-334D-6E72958349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8793269"/>
              </p:ext>
            </p:extLst>
          </p:nvPr>
        </p:nvGraphicFramePr>
        <p:xfrm>
          <a:off x="169518" y="2125192"/>
          <a:ext cx="11578944" cy="4180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9472">
                  <a:extLst>
                    <a:ext uri="{9D8B030D-6E8A-4147-A177-3AD203B41FA5}">
                      <a16:colId xmlns:a16="http://schemas.microsoft.com/office/drawing/2014/main" val="333526439"/>
                    </a:ext>
                  </a:extLst>
                </a:gridCol>
                <a:gridCol w="5789472">
                  <a:extLst>
                    <a:ext uri="{9D8B030D-6E8A-4147-A177-3AD203B41FA5}">
                      <a16:colId xmlns:a16="http://schemas.microsoft.com/office/drawing/2014/main" val="818753189"/>
                    </a:ext>
                  </a:extLst>
                </a:gridCol>
              </a:tblGrid>
              <a:tr h="4575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Myth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658544"/>
                  </a:ext>
                </a:extLst>
              </a:tr>
              <a:tr h="6392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Climate change has always happened, so we should not worry about it.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Earth is heating up at its fastest rate in at least 2,000 years and is about 1.2°C hotter than it was in pre-industrial times.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735268"/>
                  </a:ext>
                </a:extLst>
              </a:tr>
              <a:tr h="6392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Climate change is a natural process. It has nothing to do with people.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 climate change is a natural process human activity is pushing it into overdrive.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256248"/>
                  </a:ext>
                </a:extLst>
              </a:tr>
              <a:tr h="9024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couple of degrees of warming is not that big of a deal.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Actually, small temperature rises can throw the world’s delicate ecosystems into disarray, with dire implications for humans and other living things.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3627763"/>
                  </a:ext>
                </a:extLst>
              </a:tr>
              <a:tr h="6392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too late to avert a climate catastrophe, so we might as well keep burning fossil fuels.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 the situation is dire, there is still a narrow window for humanity to avoid the worst of climate change. 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737768"/>
                  </a:ext>
                </a:extLst>
              </a:tr>
              <a:tr h="9024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 do not need to worry about lowering greenhouse gas emissions. Humanity is inventive; we can just adapt to climate change.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Some countries and communities can adapt to rising temperatures, lower precipitation and the other impacts of climate change. But many cannot. 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722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6410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24F8D-F210-9AF6-F2ED-313A825E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61" y="754637"/>
            <a:ext cx="9613861" cy="1080938"/>
          </a:xfrm>
        </p:spPr>
        <p:txBody>
          <a:bodyPr/>
          <a:lstStyle/>
          <a:p>
            <a:r>
              <a:rPr lang="en-US" dirty="0"/>
              <a:t>4.</a:t>
            </a:r>
            <a:r>
              <a:rPr lang="en-US" dirty="0">
                <a:solidFill>
                  <a:schemeClr val="tx1"/>
                </a:solidFill>
              </a:rPr>
              <a:t> Cause and R</a:t>
            </a:r>
            <a:r>
              <a:rPr lang="en-US" dirty="0"/>
              <a:t>eversing</a:t>
            </a:r>
            <a:r>
              <a:rPr lang="en-US" dirty="0">
                <a:solidFill>
                  <a:schemeClr val="tx1"/>
                </a:solidFill>
              </a:rPr>
              <a:t> Factors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0A041-A740-8702-FDF3-1D31621F2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61" y="2037372"/>
            <a:ext cx="11770845" cy="440079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Causes Of Climate Change</a:t>
            </a:r>
          </a:p>
          <a:p>
            <a:r>
              <a:rPr lang="en-US" b="1" dirty="0"/>
              <a:t>Generating power</a:t>
            </a:r>
            <a:endParaRPr lang="en-US" dirty="0"/>
          </a:p>
          <a:p>
            <a:r>
              <a:rPr lang="en-US" b="1" dirty="0"/>
              <a:t>Manufacturing goods</a:t>
            </a:r>
            <a:endParaRPr lang="en-US" dirty="0"/>
          </a:p>
          <a:p>
            <a:r>
              <a:rPr lang="en-US" b="1" dirty="0"/>
              <a:t>Cutting down forests</a:t>
            </a:r>
            <a:endParaRPr lang="en-US" dirty="0"/>
          </a:p>
          <a:p>
            <a:r>
              <a:rPr lang="en-US" b="1" dirty="0"/>
              <a:t>Using transportation</a:t>
            </a:r>
            <a:endParaRPr lang="en-US" dirty="0"/>
          </a:p>
          <a:p>
            <a:r>
              <a:rPr lang="en-US" b="1" dirty="0"/>
              <a:t>Producing food</a:t>
            </a:r>
            <a:endParaRPr lang="en-US" dirty="0"/>
          </a:p>
          <a:p>
            <a:r>
              <a:rPr lang="en-US" b="1" dirty="0"/>
              <a:t>Powering buildings</a:t>
            </a:r>
            <a:endParaRPr lang="en-US" dirty="0"/>
          </a:p>
          <a:p>
            <a:r>
              <a:rPr lang="en-US" b="1" dirty="0"/>
              <a:t>Consuming too much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0272637-B2D7-E4F0-0BB8-7B77B0FE0F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0406" y="6352397"/>
            <a:ext cx="2743200" cy="365125"/>
          </a:xfrm>
        </p:spPr>
        <p:txBody>
          <a:bodyPr/>
          <a:lstStyle/>
          <a:p>
            <a:fld id="{DE8F5A37-7369-4859-A8CB-2532AE84DA17}" type="datetime12">
              <a:rPr lang="en-US" smtClean="0"/>
              <a:t>2:59 PM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2636853-E3EA-8322-7672-880C7379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3661" y="6438166"/>
            <a:ext cx="6870660" cy="365125"/>
          </a:xfrm>
        </p:spPr>
        <p:txBody>
          <a:bodyPr/>
          <a:lstStyle/>
          <a:p>
            <a:r>
              <a:rPr lang="en-US" dirty="0"/>
              <a:t>Created ALI SAQULAIN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DDC7251-CF72-79F7-E6AF-D17892985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4EA541-495D-1BEA-E523-B40544BE3C74}"/>
              </a:ext>
            </a:extLst>
          </p:cNvPr>
          <p:cNvSpPr txBox="1"/>
          <p:nvPr/>
        </p:nvSpPr>
        <p:spPr>
          <a:xfrm>
            <a:off x="5580994" y="2091875"/>
            <a:ext cx="641971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Reversing Factors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/>
              <a:t>Phase Out Damaging Refrigerants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Install Onshore Wind Turbines for Generating Power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Reduce the Nation’s Food Waste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Shift to a Plant-Rich Diet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Restore the Tropical Forests of the World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Design Smarter Cities for Transit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Make Solar Photovoltaics an Energy Priority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2543426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53AE8-56EF-57F5-4FB2-8D3F4D5D7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187" y="904577"/>
            <a:ext cx="9613861" cy="1080938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5. Conclusion</a:t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F36DC-E845-5707-2EB6-642501907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186" y="2059399"/>
            <a:ext cx="11637803" cy="4606262"/>
          </a:xfrm>
        </p:spPr>
        <p:txBody>
          <a:bodyPr>
            <a:normAutofit/>
          </a:bodyPr>
          <a:lstStyle/>
          <a:p>
            <a:r>
              <a:rPr lang="en-US" sz="2000" b="1" dirty="0"/>
              <a:t>Climate change is an undeniable crisis that demands immediate and concerted global action.</a:t>
            </a:r>
            <a:r>
              <a:rPr lang="en-US" sz="2000" dirty="0"/>
              <a:t> </a:t>
            </a:r>
          </a:p>
          <a:p>
            <a:r>
              <a:rPr lang="en-US" sz="2000" dirty="0"/>
              <a:t>The evidence is overwhelming: rising sea levels, extreme weather events, biodiversity loss, and the disruption of ecosystems are just a few of the far-reaching consequences. </a:t>
            </a:r>
          </a:p>
          <a:p>
            <a:r>
              <a:rPr lang="en-US" sz="2000" dirty="0"/>
              <a:t>Transitioning to renewable energy sources, investing in sustainable technologies, and adopting eco-friendly practices are essential steps towards a more resilient future. </a:t>
            </a:r>
          </a:p>
          <a:p>
            <a:r>
              <a:rPr lang="en-US" sz="2000" dirty="0"/>
              <a:t>International cooperation, policy changes, and individual actions are all crucial components of addressing this complex issue. </a:t>
            </a:r>
          </a:p>
          <a:p>
            <a:r>
              <a:rPr lang="en-US" sz="2000" dirty="0"/>
              <a:t>The choices we make today will determine the planet we leave for future generations. </a:t>
            </a:r>
          </a:p>
          <a:p>
            <a:r>
              <a:rPr lang="en-US" sz="2000" dirty="0"/>
              <a:t>It is imperative that we rise to the occasion and build a world that is both sustainable and equitable.</a:t>
            </a:r>
          </a:p>
          <a:p>
            <a:r>
              <a:rPr lang="en-US" sz="2000" dirty="0"/>
              <a:t>The future of our planet depends on our collective will to act decisively.</a:t>
            </a:r>
          </a:p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EF896-8563-61A2-1DF6-5719360043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19428" y="6314171"/>
            <a:ext cx="2743200" cy="365125"/>
          </a:xfrm>
        </p:spPr>
        <p:txBody>
          <a:bodyPr/>
          <a:lstStyle/>
          <a:p>
            <a:fld id="{623C2407-AA0B-48CC-B684-40907C8B9535}" type="datetime12">
              <a:rPr lang="en-US" smtClean="0"/>
              <a:t>2:59 PM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FB11FD-AAC8-C27B-AC70-5D51EC585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010" y="6327807"/>
            <a:ext cx="6870660" cy="365125"/>
          </a:xfrm>
        </p:spPr>
        <p:txBody>
          <a:bodyPr/>
          <a:lstStyle/>
          <a:p>
            <a:r>
              <a:rPr lang="en-US" dirty="0"/>
              <a:t>Created By ALI SAQULAIN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481E83-0F63-2F9A-DAA0-8F619CB7F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FF4CB1-C61D-3362-D389-DB7A12247B20}"/>
              </a:ext>
            </a:extLst>
          </p:cNvPr>
          <p:cNvSpPr txBox="1"/>
          <p:nvPr/>
        </p:nvSpPr>
        <p:spPr>
          <a:xfrm>
            <a:off x="3408595" y="5992313"/>
            <a:ext cx="31736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i="0" dirty="0">
                <a:solidFill>
                  <a:srgbClr val="FFFFFF"/>
                </a:solidFill>
                <a:effectLst/>
                <a:latin typeface="Inter"/>
              </a:rPr>
              <a:t>Global Warming PSA</a:t>
            </a:r>
            <a:endParaRPr lang="en-US" sz="2800" dirty="0"/>
          </a:p>
        </p:txBody>
      </p:sp>
      <p:pic>
        <p:nvPicPr>
          <p:cNvPr id="6" name="Sound For 5#">
            <a:hlinkClick r:id="" action="ppaction://media"/>
            <a:extLst>
              <a:ext uri="{FF2B5EF4-FFF2-40B4-BE49-F238E27FC236}">
                <a16:creationId xmlns:a16="http://schemas.microsoft.com/office/drawing/2014/main" id="{ACB7A304-00AE-EC3C-CA99-D930F06C8EE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062901" y="5968475"/>
            <a:ext cx="697186" cy="69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885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5" dur="2113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31028-A8A9-78A1-8E75-2A1C2E333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12539-B527-38E0-18F0-2F3BBC97A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8589803" cy="3599316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What Is Climate Change? | United Nations</a:t>
            </a:r>
            <a:endParaRPr lang="en-US" dirty="0"/>
          </a:p>
          <a:p>
            <a:r>
              <a:rPr lang="en-US" dirty="0">
                <a:hlinkClick r:id="rId3"/>
              </a:rPr>
              <a:t>45 Latest Greenhouse Gas &amp; Climate Change Statistics 2024 (theroundup.org)</a:t>
            </a:r>
            <a:endParaRPr lang="en-US" dirty="0"/>
          </a:p>
          <a:p>
            <a:r>
              <a:rPr lang="en-US" dirty="0">
                <a:hlinkClick r:id="rId4"/>
              </a:rPr>
              <a:t>Debunking eight common myths about climate change | UNEP</a:t>
            </a:r>
            <a:endParaRPr lang="en-US" dirty="0"/>
          </a:p>
          <a:p>
            <a:r>
              <a:rPr lang="en-US" dirty="0">
                <a:hlinkClick r:id="rId5"/>
              </a:rPr>
              <a:t>Causes and Effects of Climate Change | United Nations</a:t>
            </a:r>
            <a:endParaRPr lang="en-US" dirty="0"/>
          </a:p>
          <a:p>
            <a:r>
              <a:rPr lang="en-US" dirty="0">
                <a:hlinkClick r:id="rId6"/>
              </a:rPr>
              <a:t>How to Reverse Global Warming: Climate Change Solutions (thesolutionsproject.org)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0D2C9D-639B-9198-171B-9D38ECC6D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E62B0-BF23-499B-81C6-32A998551E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1539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293</TotalTime>
  <Words>688</Words>
  <Application>Microsoft Office PowerPoint</Application>
  <PresentationFormat>Widescreen</PresentationFormat>
  <Paragraphs>87</Paragraphs>
  <Slides>8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Inter</vt:lpstr>
      <vt:lpstr>Tenorite</vt:lpstr>
      <vt:lpstr>Trebuchet MS</vt:lpstr>
      <vt:lpstr>Berlin</vt:lpstr>
      <vt:lpstr>DEPARTMENT OF COMPUTER SCIENCE ALIGARH MUSLIM UNIVERSITY, ALIGARH</vt:lpstr>
      <vt:lpstr>Table Of Contents</vt:lpstr>
      <vt:lpstr>1. Introduction </vt:lpstr>
      <vt:lpstr>2. Climate Change Infographic </vt:lpstr>
      <vt:lpstr>3. Debunking Myths </vt:lpstr>
      <vt:lpstr>4. Cause and Reversing Factors </vt:lpstr>
      <vt:lpstr>5. Conclusion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COMPUTER SCIENCE ALIGARH MUSLIM UNIVERSITY, ALIGARH</dc:title>
  <dc:creator>Mohd Rameez Khan</dc:creator>
  <cp:lastModifiedBy>HP</cp:lastModifiedBy>
  <cp:revision>108</cp:revision>
  <dcterms:created xsi:type="dcterms:W3CDTF">2024-08-17T15:42:02Z</dcterms:created>
  <dcterms:modified xsi:type="dcterms:W3CDTF">2026-09-17T09:30:44Z</dcterms:modified>
</cp:coreProperties>
</file>