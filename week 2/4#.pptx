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1"/>
  </p:notesMasterIdLst>
  <p:sldIdLst>
    <p:sldId id="263" r:id="rId2"/>
    <p:sldId id="257" r:id="rId3"/>
    <p:sldId id="261" r:id="rId4"/>
    <p:sldId id="262" r:id="rId5"/>
    <p:sldId id="258" r:id="rId6"/>
    <p:sldId id="265" r:id="rId7"/>
    <p:sldId id="259" r:id="rId8"/>
    <p:sldId id="266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Death rates by suicide per 100,000 population in 2019 (by age and sex)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3.9295499225080355E-2"/>
          <c:y val="0.20466242455970163"/>
          <c:w val="0.94617345718178891"/>
          <c:h val="0.63929106157558868"/>
        </c:manualLayout>
      </c:layout>
      <c:bar3DChart>
        <c:barDir val="col"/>
        <c:grouping val="stack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4000"/>
                    <a:satMod val="103000"/>
                    <a:lumMod val="102000"/>
                  </a:schemeClr>
                </a:gs>
                <a:gs pos="50000">
                  <a:schemeClr val="accent2">
                    <a:shade val="100000"/>
                    <a:satMod val="110000"/>
                    <a:lumMod val="100000"/>
                  </a:schemeClr>
                </a:gs>
                <a:gs pos="100000">
                  <a:schemeClr val="accent2">
                    <a:shade val="78000"/>
                    <a:satMod val="120000"/>
                    <a:lumMod val="99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10 To 19</c:v>
                </c:pt>
                <c:pt idx="1">
                  <c:v>20 To 34</c:v>
                </c:pt>
                <c:pt idx="2">
                  <c:v>35 To 49</c:v>
                </c:pt>
                <c:pt idx="3">
                  <c:v>50 to 64</c:v>
                </c:pt>
                <c:pt idx="4">
                  <c:v>65 To 79</c:v>
                </c:pt>
                <c:pt idx="5">
                  <c:v>80 And Older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7.4</c:v>
                </c:pt>
                <c:pt idx="1">
                  <c:v>21.4</c:v>
                </c:pt>
                <c:pt idx="2">
                  <c:v>23.4</c:v>
                </c:pt>
                <c:pt idx="3">
                  <c:v>25.9</c:v>
                </c:pt>
                <c:pt idx="4">
                  <c:v>18</c:v>
                </c:pt>
                <c:pt idx="5">
                  <c:v>22.9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C7E-49FA-8298-26DB486B54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shape val="box"/>
        <c:axId val="1871011424"/>
        <c:axId val="1871018144"/>
        <c:axId val="0"/>
      </c:bar3DChart>
      <c:catAx>
        <c:axId val="1871011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1018144"/>
        <c:crosses val="autoZero"/>
        <c:auto val="1"/>
        <c:lblAlgn val="ctr"/>
        <c:lblOffset val="100"/>
        <c:noMultiLvlLbl val="0"/>
      </c:catAx>
      <c:valAx>
        <c:axId val="1871018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1011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CDB8EA-C31F-45A0-97AC-756ADAD92762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83F217-8C27-4FD3-9574-98FD8A891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856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3F217-8C27-4FD3-9574-98FD8A891E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372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3F217-8C27-4FD3-9574-98FD8A891E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22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D2408-BD8E-4370-8CA6-0471605DCDE2}" type="datetime12">
              <a:rPr lang="en-US" smtClean="0"/>
              <a:t>12:10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586316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7C79D-943F-4E10-A660-3A1AA20CFDBD}" type="datetime12">
              <a:rPr lang="en-US" smtClean="0"/>
              <a:t>12:10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41962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A332-466E-4235-AE17-4594B7BE170E}" type="datetime12">
              <a:rPr lang="en-US" smtClean="0"/>
              <a:t>12:10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061202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2CD8-F270-40F3-A4CD-F6A55EB025E6}" type="datetime12">
              <a:rPr lang="en-US" smtClean="0"/>
              <a:t>12:10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11367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A903-0E30-4D20-96BA-4DB348C4ED44}" type="datetime12">
              <a:rPr lang="en-US" smtClean="0"/>
              <a:t>12:10 PM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458529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ACC-DE80-4BE1-B305-B47A804E2554}" type="datetime12">
              <a:rPr lang="en-US" smtClean="0"/>
              <a:t>12:10 PM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367793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9E079-FF65-4C23-B3E2-B2963E450D5B}" type="datetime12">
              <a:rPr lang="en-US" smtClean="0"/>
              <a:t>12:10 PM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030020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A3C61-78B5-4C9B-A76E-B698409413AA}" type="datetime12">
              <a:rPr lang="en-US" smtClean="0"/>
              <a:t>12:10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14540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8827-037C-4281-BC08-4FD82781AB38}" type="datetime12">
              <a:rPr lang="en-US" smtClean="0"/>
              <a:t>12:10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392220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CC50A-3148-4DAA-81C1-D448B47706B5}" type="datetime12">
              <a:rPr lang="en-US" smtClean="0"/>
              <a:t>12:10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514570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7B960-A625-478C-AAEB-CBD5199D799A}" type="datetime12">
              <a:rPr lang="en-US" smtClean="0"/>
              <a:t>12:10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497780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C0E18-1771-45E6-B5EF-965508BA932B}" type="datetime12">
              <a:rPr lang="en-US" smtClean="0"/>
              <a:t>12:10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013220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51619-CABF-4C2A-998A-4C4EE56B83AB}" type="datetime12">
              <a:rPr lang="en-US" smtClean="0"/>
              <a:t>12:10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695089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258D-6551-4CD1-9A01-4BCA85205441}" type="datetime12">
              <a:rPr lang="en-US" smtClean="0"/>
              <a:t>12:10 PM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04731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D1A03-DC2B-42C5-A1DF-49BCB12E39BD}" type="datetime12">
              <a:rPr lang="en-US" smtClean="0"/>
              <a:t>12:10 PM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389401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8C3D0-EBC2-406C-97CA-0399BBE5AFB2}" type="datetime12">
              <a:rPr lang="en-US" smtClean="0"/>
              <a:t>12:10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22062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D6181246-F974-495A-819A-C116649931CF}" type="datetime12">
              <a:rPr lang="en-US" smtClean="0"/>
              <a:t>12:10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704451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6B615-A769-45A9-806D-FF8ADF347C87}" type="datetime12">
              <a:rPr lang="en-US" smtClean="0"/>
              <a:t>12:10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Ali Saqulain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5314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ransition spd="slow">
    <p:push dir="u"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nada.ca/en/public-health/services/publications/healthy-living/suicide-canada-key-statistics-infographic.html" TargetMode="External"/><Relationship Id="rId2" Type="http://schemas.openxmlformats.org/officeDocument/2006/relationships/hyperlink" Target="https://www.psychiatry.org/patients-families/suicide-prevention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fsp.org/risk-factors-protective-factors-and-warning-signs/" TargetMode="External"/><Relationship Id="rId4" Type="http://schemas.openxmlformats.org/officeDocument/2006/relationships/hyperlink" Target="https://suicideprevention.nv.gov/Youth/Myth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3F4659-996A-31BB-06DB-63D537A9D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CFD6F-617A-BB68-3CD4-9A69F1F2942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003177" y="334921"/>
            <a:ext cx="5024438" cy="836612"/>
          </a:xfr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IN" sz="2000" b="1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reflection blurRad="6350" stA="55000" endA="300" endPos="45500" dir="5400000" sy="-100000" algn="bl" rotWithShape="0"/>
                </a:effectLst>
                <a:uLnTx/>
                <a:uFillTx/>
                <a:latin typeface="Tenorite"/>
                <a:ea typeface="+mn-ea"/>
                <a:cs typeface="+mn-cs"/>
              </a:rPr>
              <a:t>DEPARTMENT OF COMPUTER SCIENCE</a:t>
            </a:r>
            <a:br>
              <a:rPr kumimoji="0" lang="en-US" sz="2000" b="1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reflection blurRad="6350" stA="55000" endA="300" endPos="45500" dir="5400000" sy="-100000" algn="bl" rotWithShape="0"/>
                </a:effectLst>
                <a:uLnTx/>
                <a:uFillTx/>
                <a:latin typeface="Tenorite"/>
                <a:ea typeface="+mn-ea"/>
                <a:cs typeface="+mn-cs"/>
              </a:rPr>
            </a:br>
            <a:r>
              <a:rPr kumimoji="0" lang="en-IN" sz="2000" b="1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reflection blurRad="6350" stA="55000" endA="300" endPos="45500" dir="5400000" sy="-100000" algn="bl" rotWithShape="0"/>
                </a:effectLst>
                <a:uLnTx/>
                <a:uFillTx/>
                <a:latin typeface="Tenorite"/>
                <a:ea typeface="+mn-ea"/>
                <a:cs typeface="+mn-cs"/>
              </a:rPr>
              <a:t>ALIGARH MUSLIM UNIVERSITY, ALIGARH</a:t>
            </a:r>
            <a:endParaRPr lang="en-US" sz="4400" b="1" dirty="0"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2F4714-0A58-1305-AD28-9A572CFFE15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479176" y="3299190"/>
            <a:ext cx="8674100" cy="238605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</a:rPr>
              <a:t>Week #2 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</a:rPr>
              <a:t>4# Presentation (CAMS-1P01)</a:t>
            </a:r>
            <a:endParaRPr lang="en-US" sz="8000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4800" b="1" dirty="0"/>
              <a:t>Suicide Awareness</a:t>
            </a:r>
            <a:endParaRPr lang="en-US" sz="4800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409326-FB4C-32F4-0FDC-3A5875896EA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37050" y="1334785"/>
            <a:ext cx="2132481" cy="1940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D6736F-2C39-B723-F776-C66EB20B24FB}"/>
              </a:ext>
            </a:extLst>
          </p:cNvPr>
          <p:cNvSpPr txBox="1"/>
          <p:nvPr/>
        </p:nvSpPr>
        <p:spPr>
          <a:xfrm>
            <a:off x="9672918" y="5708685"/>
            <a:ext cx="2519082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u="sng" dirty="0"/>
              <a:t>Presented By </a:t>
            </a:r>
          </a:p>
          <a:p>
            <a:r>
              <a:rPr lang="en-US" sz="2800" b="1" i="1" u="sng" dirty="0"/>
              <a:t>ALI SAQULAIN</a:t>
            </a:r>
          </a:p>
          <a:p>
            <a:endParaRPr lang="en-US" sz="1800" b="1" i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30217-8EC6-0662-9474-D6333B1A4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</p:spTree>
    <p:extLst>
      <p:ext uri="{BB962C8B-B14F-4D97-AF65-F5344CB8AC3E}">
        <p14:creationId xmlns:p14="http://schemas.microsoft.com/office/powerpoint/2010/main" val="10652097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C820C-5633-B973-3FAC-C1DBEE37F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u="sng" dirty="0">
                <a:solidFill>
                  <a:schemeClr val="tx1"/>
                </a:solidFill>
                <a:latin typeface="+mn-lt"/>
              </a:rPr>
              <a:t>Table Of Contents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5F5C5-2A63-6DB2-66A9-DD3A7948D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1.  Introduction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2.  </a:t>
            </a:r>
            <a:r>
              <a:rPr lang="en-US" dirty="0"/>
              <a:t>Suicide Trend Infographic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3.  Debunking Myths</a:t>
            </a:r>
          </a:p>
          <a:p>
            <a:pPr marL="457200" indent="-457200" algn="just">
              <a:buAutoNum type="arabicPeriod" startAt="4"/>
            </a:pPr>
            <a:r>
              <a:rPr lang="en-US" dirty="0">
                <a:solidFill>
                  <a:schemeClr val="tx1"/>
                </a:solidFill>
              </a:rPr>
              <a:t>Risk and </a:t>
            </a:r>
            <a:r>
              <a:rPr lang="en-US" dirty="0"/>
              <a:t>P</a:t>
            </a:r>
            <a:r>
              <a:rPr lang="en-US" dirty="0">
                <a:solidFill>
                  <a:schemeClr val="tx1"/>
                </a:solidFill>
              </a:rPr>
              <a:t>rotective Factors</a:t>
            </a:r>
          </a:p>
          <a:p>
            <a:pPr marL="457200" indent="-457200" algn="just">
              <a:buFont typeface="Arial" panose="020B0604020202020204" pitchFamily="34" charset="0"/>
              <a:buAutoNum type="arabicPeriod" startAt="4"/>
            </a:pPr>
            <a:r>
              <a:rPr lang="en-US" dirty="0">
                <a:solidFill>
                  <a:schemeClr val="tx1"/>
                </a:solidFill>
              </a:rPr>
              <a:t>Conclusion</a:t>
            </a:r>
          </a:p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AC6108-5F07-11EA-B5A6-6194D5D0D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1D554F-2661-186C-1D6C-9C1FFC142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</p:spTree>
    <p:extLst>
      <p:ext uri="{BB962C8B-B14F-4D97-AF65-F5344CB8AC3E}">
        <p14:creationId xmlns:p14="http://schemas.microsoft.com/office/powerpoint/2010/main" val="7405263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65419-1843-3227-5E9B-10D95D9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906" y="898271"/>
            <a:ext cx="9613861" cy="1080938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1.</a:t>
            </a:r>
            <a:r>
              <a:rPr lang="en-US" sz="3200" b="1" dirty="0"/>
              <a:t> </a:t>
            </a:r>
            <a:r>
              <a:rPr lang="en-US" sz="4400" b="1" dirty="0"/>
              <a:t>Introduction</a:t>
            </a:r>
            <a:br>
              <a:rPr lang="en-US" sz="320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BCB53-E2F8-4D78-F221-24CB73AB2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614" y="2131499"/>
            <a:ext cx="6238229" cy="5591410"/>
          </a:xfrm>
        </p:spPr>
        <p:txBody>
          <a:bodyPr>
            <a:normAutofit/>
          </a:bodyPr>
          <a:lstStyle/>
          <a:p>
            <a:r>
              <a:rPr lang="en-US" sz="2500" dirty="0"/>
              <a:t>Suicide is a major global public-health concern. It refers to death caused by intentionally ending one's own life. However, suicidal thoughts and </a:t>
            </a:r>
            <a:r>
              <a:rPr lang="en-US" sz="2500" dirty="0" err="1"/>
              <a:t>behaviours</a:t>
            </a:r>
            <a:r>
              <a:rPr lang="en-US" sz="2500" dirty="0"/>
              <a:t> are complex and can be influenced by psychological, social, economic, environmental, and personal factors. </a:t>
            </a:r>
            <a:r>
              <a:rPr lang="en-US" sz="2500" b="1" dirty="0"/>
              <a:t>Suicide is preventable</a:t>
            </a:r>
            <a:r>
              <a:rPr lang="en-US" sz="2500" dirty="0"/>
              <a:t>, and early recognition, compassionate communication, professional support, and community awareness can help save lives.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613B3E-BAAE-4859-2DA8-D31D2BC21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3115" y="6301312"/>
            <a:ext cx="6870660" cy="365125"/>
          </a:xfrm>
        </p:spPr>
        <p:txBody>
          <a:bodyPr/>
          <a:lstStyle/>
          <a:p>
            <a:r>
              <a:rPr lang="en-US" dirty="0"/>
              <a:t>Ali </a:t>
            </a:r>
            <a:r>
              <a:rPr lang="en-US" dirty="0" err="1"/>
              <a:t>Saqulain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892550-5E13-1FC4-2E61-5697AA117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3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F610FA8-877A-3EE9-794A-E73FBC993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8722" y="2131499"/>
            <a:ext cx="5014825" cy="323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69270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F554-F9CC-B3C5-4401-FF7D84180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2" y="873046"/>
            <a:ext cx="9613861" cy="1080938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2. Suicide Trend Infographic</a:t>
            </a:r>
            <a:br>
              <a:rPr lang="en-US" sz="2800" dirty="0"/>
            </a:br>
            <a:endParaRPr lang="en-US" dirty="0"/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026C4B0B-FD5D-D28D-E752-BB2DFDB59A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8075067"/>
              </p:ext>
            </p:extLst>
          </p:nvPr>
        </p:nvGraphicFramePr>
        <p:xfrm>
          <a:off x="908061" y="2027796"/>
          <a:ext cx="9613900" cy="43666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93F97331-207C-B513-F11B-763898F10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8248" y="6394494"/>
            <a:ext cx="6870660" cy="365125"/>
          </a:xfrm>
        </p:spPr>
        <p:txBody>
          <a:bodyPr/>
          <a:lstStyle/>
          <a:p>
            <a:r>
              <a:rPr lang="en-US"/>
              <a:t>Ali Saqulain</a:t>
            </a:r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B9725EA2-674B-C90E-FAA1-2E3589DE1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4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6E96FD-53F5-1391-9C25-AC1609CE2A87}"/>
              </a:ext>
            </a:extLst>
          </p:cNvPr>
          <p:cNvSpPr txBox="1"/>
          <p:nvPr/>
        </p:nvSpPr>
        <p:spPr>
          <a:xfrm>
            <a:off x="4772797" y="6316958"/>
            <a:ext cx="246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Age Group (Years)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05DC99-9390-0E79-3849-F1C67B611658}"/>
              </a:ext>
            </a:extLst>
          </p:cNvPr>
          <p:cNvSpPr txBox="1"/>
          <p:nvPr/>
        </p:nvSpPr>
        <p:spPr>
          <a:xfrm rot="16200000">
            <a:off x="-735175" y="3536972"/>
            <a:ext cx="2466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Rate per 100,000 Population</a:t>
            </a:r>
          </a:p>
        </p:txBody>
      </p:sp>
    </p:spTree>
    <p:extLst>
      <p:ext uri="{BB962C8B-B14F-4D97-AF65-F5344CB8AC3E}">
        <p14:creationId xmlns:p14="http://schemas.microsoft.com/office/powerpoint/2010/main" val="29141873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FDCE9-05EB-B306-5D38-C623D0CC5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18" y="854127"/>
            <a:ext cx="9613861" cy="1080938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3. Debunking Myths</a:t>
            </a:r>
            <a:br>
              <a:rPr lang="en-US" sz="2800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4959A87-BD5D-BA7F-6893-E05CC8CE8A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9705917"/>
              </p:ext>
            </p:extLst>
          </p:nvPr>
        </p:nvGraphicFramePr>
        <p:xfrm>
          <a:off x="113512" y="2008094"/>
          <a:ext cx="11773688" cy="4443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6167">
                  <a:extLst>
                    <a:ext uri="{9D8B030D-6E8A-4147-A177-3AD203B41FA5}">
                      <a16:colId xmlns:a16="http://schemas.microsoft.com/office/drawing/2014/main" val="3283664405"/>
                    </a:ext>
                  </a:extLst>
                </a:gridCol>
                <a:gridCol w="5837521">
                  <a:extLst>
                    <a:ext uri="{9D8B030D-6E8A-4147-A177-3AD203B41FA5}">
                      <a16:colId xmlns:a16="http://schemas.microsoft.com/office/drawing/2014/main" val="1168952210"/>
                    </a:ext>
                  </a:extLst>
                </a:gridCol>
              </a:tblGrid>
              <a:tr h="43952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Myth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46947"/>
                  </a:ext>
                </a:extLst>
              </a:tr>
              <a:tr h="5435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People who talk about suicide won't actually do it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Talking about suicide can indicate genuine distress and should always be taken seriously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226300"/>
                  </a:ext>
                </a:extLst>
              </a:tr>
              <a:tr h="5435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Asking someone about suicide puts the idea in their head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1400" dirty="0"/>
                        <a:t>sking directly and sensitively can help a person feel understood and may encourage them to seek help.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522719"/>
                  </a:ext>
                </a:extLst>
              </a:tr>
              <a:tr h="7674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Suicide happens without warning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Some people show warning signs through changes in </a:t>
                      </a:r>
                      <a:r>
                        <a:rPr lang="en-US" sz="1400" dirty="0" err="1"/>
                        <a:t>behaviour</a:t>
                      </a:r>
                      <a:r>
                        <a:rPr lang="en-US" sz="1400" dirty="0"/>
                        <a:t>, mood, communication, or circumstances.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916251"/>
                  </a:ext>
                </a:extLst>
              </a:tr>
              <a:tr h="5435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a person attempts suicide and survives, they will never make a further attempt.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suicide attempt is regarded as an indicator of further attempts.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031637"/>
                  </a:ext>
                </a:extLst>
              </a:tr>
              <a:tr h="5435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Only people with mental illnesses die by suicide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Mental-health conditions can be a risk factor, but suicide is complex and can involve many social and personal factors.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3198656"/>
                  </a:ext>
                </a:extLst>
              </a:tr>
              <a:tr h="5435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People who threaten suicide are just seeking attention.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 suicide attempts must be treated as though the person has the intent to die.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684809"/>
                  </a:ext>
                </a:extLst>
              </a:tr>
              <a:tr h="5026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Once someone is suicidal, they will always remain suicidal.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Suicidal crises can be temporary, and timely support and treatment can make a significant difference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575539"/>
                  </a:ext>
                </a:extLst>
              </a:tr>
            </a:tbl>
          </a:graphicData>
        </a:graphic>
      </p:graphicFrame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40B883-2F11-309C-ADC5-B2692592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3929" y="6396542"/>
            <a:ext cx="6870660" cy="365125"/>
          </a:xfrm>
        </p:spPr>
        <p:txBody>
          <a:bodyPr/>
          <a:lstStyle/>
          <a:p>
            <a:r>
              <a:rPr lang="en-US"/>
              <a:t>Ali Saqulain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15ED308-D211-D455-B3DC-C6684D694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102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24F8D-F210-9AF6-F2ED-313A825E5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61" y="1182128"/>
            <a:ext cx="9613861" cy="1089373"/>
          </a:xfrm>
        </p:spPr>
        <p:txBody>
          <a:bodyPr/>
          <a:lstStyle/>
          <a:p>
            <a:r>
              <a:rPr lang="en-US" dirty="0"/>
              <a:t>4.</a:t>
            </a:r>
            <a:r>
              <a:rPr lang="en-US" dirty="0">
                <a:solidFill>
                  <a:schemeClr val="tx1"/>
                </a:solidFill>
              </a:rPr>
              <a:t> Risk and </a:t>
            </a:r>
            <a:r>
              <a:rPr lang="en-US" dirty="0"/>
              <a:t>P</a:t>
            </a:r>
            <a:r>
              <a:rPr lang="en-US" dirty="0">
                <a:solidFill>
                  <a:schemeClr val="tx1"/>
                </a:solidFill>
              </a:rPr>
              <a:t>rotective Factors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0A041-A740-8702-FDF3-1D31621F2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61" y="2037373"/>
            <a:ext cx="6887129" cy="359931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chemeClr val="bg1"/>
                </a:solidFill>
              </a:rPr>
              <a:t>Risk Factors</a:t>
            </a:r>
          </a:p>
          <a:p>
            <a:pPr>
              <a:lnSpc>
                <a:spcPct val="110000"/>
              </a:lnSpc>
            </a:pPr>
            <a:endParaRPr lang="en-US" sz="1600" b="1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2636853-E3EA-8322-7672-880C73792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3661" y="6438166"/>
            <a:ext cx="6870660" cy="365125"/>
          </a:xfrm>
        </p:spPr>
        <p:txBody>
          <a:bodyPr/>
          <a:lstStyle/>
          <a:p>
            <a:r>
              <a:rPr lang="en-US"/>
              <a:t>Ali Saqulain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DDC7251-CF72-79F7-E6AF-D17892985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6BB5C9-7614-1EF4-DED0-727154490D2D}"/>
              </a:ext>
            </a:extLst>
          </p:cNvPr>
          <p:cNvSpPr txBox="1"/>
          <p:nvPr/>
        </p:nvSpPr>
        <p:spPr>
          <a:xfrm>
            <a:off x="6777296" y="2037373"/>
            <a:ext cx="5301943" cy="2156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Protective Factors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3200" b="1" dirty="0">
              <a:solidFill>
                <a:schemeClr val="bg1"/>
              </a:solidFill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9604FB0A-4E37-7C26-E529-C3FA2D1B9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661" y="2912866"/>
            <a:ext cx="541470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Depression and other mental-health difficulties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Previous suicide attempts or self-harm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Substance misuse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Social isolation and loneliness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Bullying, abuse, or trauma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Relationship or family problems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Financial, academic, or employment stress 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B7178699-7A29-5F48-2A6D-63AE31F4A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6341" y="2805145"/>
            <a:ext cx="5432898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Supportive family and friends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social connections and sense of belonging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to mental-health care and crisis support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Healthy coping and problem-solving skills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Feeling able to talk openly and seek help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Supportive schools, workplaces, and communities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Hope, purpose, and meaningful activities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access to highly lethal means during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periods of crisis </a:t>
            </a:r>
          </a:p>
        </p:txBody>
      </p:sp>
    </p:spTree>
    <p:extLst>
      <p:ext uri="{BB962C8B-B14F-4D97-AF65-F5344CB8AC3E}">
        <p14:creationId xmlns:p14="http://schemas.microsoft.com/office/powerpoint/2010/main" val="33254342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53AE8-56EF-57F5-4FB2-8D3F4D5D7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187" y="904577"/>
            <a:ext cx="9613861" cy="1080938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5. Conclusion</a:t>
            </a:r>
            <a:br>
              <a:rPr lang="en-US" sz="4400" dirty="0"/>
            </a:b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FB11FD-AAC8-C27B-AC70-5D51EC585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010" y="6327807"/>
            <a:ext cx="6870660" cy="365125"/>
          </a:xfrm>
        </p:spPr>
        <p:txBody>
          <a:bodyPr/>
          <a:lstStyle/>
          <a:p>
            <a:r>
              <a:rPr lang="en-US"/>
              <a:t>Ali Saqulain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481E83-0F63-2F9A-DAA0-8F619CB7F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7</a:t>
            </a:fld>
            <a:endParaRPr lang="en-US"/>
          </a:p>
        </p:txBody>
      </p:sp>
      <p:pic>
        <p:nvPicPr>
          <p:cNvPr id="4" name="Sound For 4#">
            <a:hlinkClick r:id="" action="ppaction://media"/>
            <a:extLst>
              <a:ext uri="{FF2B5EF4-FFF2-40B4-BE49-F238E27FC236}">
                <a16:creationId xmlns:a16="http://schemas.microsoft.com/office/drawing/2014/main" id="{5B507B90-C067-4D6A-899D-AF467EFEAC8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038777" y="5953423"/>
            <a:ext cx="842229" cy="7309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FF4CB1-C61D-3362-D389-DB7A12247B20}"/>
              </a:ext>
            </a:extLst>
          </p:cNvPr>
          <p:cNvSpPr txBox="1"/>
          <p:nvPr/>
        </p:nvSpPr>
        <p:spPr>
          <a:xfrm>
            <a:off x="3392261" y="5953423"/>
            <a:ext cx="35219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0" i="0" dirty="0">
                <a:solidFill>
                  <a:srgbClr val="FFFFFF"/>
                </a:solidFill>
                <a:effectLst/>
                <a:latin typeface="Inter"/>
              </a:rPr>
              <a:t>Suicide Awareness PSA</a:t>
            </a:r>
            <a:endParaRPr lang="en-US" sz="2800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901D5766-71C1-057C-029B-CF27C5E886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6281" y="2167539"/>
            <a:ext cx="6331960" cy="2970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Suicide awareness is about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recognizing warning signs, challenging harmful myths, reducing stigma, and encouraging people to seek help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Every conversation can matter. By listening without judgment, showing compassion, and connecting people with appropriate support, individuals and communities can contribute to suicide prevention.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i="1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Key message for your final slide: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“Suicide prevention is everyone's responsibility. Listen, support, speak up, and help connect people to care.”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8855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398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44685-B8E1-3D65-8B03-6725C976E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B2089-BF0E-072C-3648-08D40B926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3BEE20-0D8B-B62E-741D-5A4088497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986BE3-73A6-DD58-CB7C-C347D11E5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74059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31028-A8A9-78A1-8E75-2A1C2E333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12539-B527-38E0-18F0-2F3BBC97A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8589803" cy="3599316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Suicide (who.int)</a:t>
            </a:r>
            <a:endParaRPr lang="en-US" dirty="0"/>
          </a:p>
          <a:p>
            <a:r>
              <a:rPr lang="en-US" dirty="0">
                <a:hlinkClick r:id="rId3"/>
              </a:rPr>
              <a:t>Suicide in Canada: Key Statistics (infographic) - Canada.ca</a:t>
            </a:r>
            <a:endParaRPr lang="en-US" dirty="0"/>
          </a:p>
          <a:p>
            <a:r>
              <a:rPr lang="en-US" dirty="0">
                <a:hlinkClick r:id="rId4"/>
              </a:rPr>
              <a:t>The Myths &amp; Facts of Youth Suicide (nv.gov)</a:t>
            </a:r>
            <a:endParaRPr lang="en-US" dirty="0"/>
          </a:p>
          <a:p>
            <a:r>
              <a:rPr lang="en-US" dirty="0">
                <a:hlinkClick r:id="rId5"/>
              </a:rPr>
              <a:t>Risk factors, protective factors, and warning signs | AFSP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0D2C9D-639B-9198-171B-9D38ECC6D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31F59-09A6-0CD2-0BBF-1E3451CB7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</p:spTree>
    <p:extLst>
      <p:ext uri="{BB962C8B-B14F-4D97-AF65-F5344CB8AC3E}">
        <p14:creationId xmlns:p14="http://schemas.microsoft.com/office/powerpoint/2010/main" val="116441539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6A9C41"/>
      </a:dk2>
      <a:lt2>
        <a:srgbClr val="E7E6E6"/>
      </a:lt2>
      <a:accent1>
        <a:srgbClr val="A7D535"/>
      </a:accent1>
      <a:accent2>
        <a:srgbClr val="EACA4F"/>
      </a:accent2>
      <a:accent3>
        <a:srgbClr val="FD9850"/>
      </a:accent3>
      <a:accent4>
        <a:srgbClr val="F46442"/>
      </a:accent4>
      <a:accent5>
        <a:srgbClr val="54D289"/>
      </a:accent5>
      <a:accent6>
        <a:srgbClr val="6AD8CB"/>
      </a:accent6>
      <a:hlink>
        <a:srgbClr val="CAFB50"/>
      </a:hlink>
      <a:folHlink>
        <a:srgbClr val="DEFF8B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218</TotalTime>
  <Words>590</Words>
  <Application>Microsoft Office PowerPoint</Application>
  <PresentationFormat>Widescreen</PresentationFormat>
  <Paragraphs>89</Paragraphs>
  <Slides>9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Inter</vt:lpstr>
      <vt:lpstr>Tenorite</vt:lpstr>
      <vt:lpstr>Trebuchet MS</vt:lpstr>
      <vt:lpstr>Berlin</vt:lpstr>
      <vt:lpstr>DEPARTMENT OF COMPUTER SCIENCE ALIGARH MUSLIM UNIVERSITY, ALIGARH</vt:lpstr>
      <vt:lpstr>Table Of Contents</vt:lpstr>
      <vt:lpstr>1. Introduction </vt:lpstr>
      <vt:lpstr>2. Suicide Trend Infographic </vt:lpstr>
      <vt:lpstr>3. Debunking Myths </vt:lpstr>
      <vt:lpstr>4. Risk and Protective Factors </vt:lpstr>
      <vt:lpstr>5. Conclusion 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COMPUTER SCIENCE ALIGARH MUSLIM UNIVERSITY, ALIGARH</dc:title>
  <dc:creator>Mohd Rameez Khan</dc:creator>
  <cp:lastModifiedBy>HP</cp:lastModifiedBy>
  <cp:revision>76</cp:revision>
  <dcterms:created xsi:type="dcterms:W3CDTF">2024-08-17T15:42:02Z</dcterms:created>
  <dcterms:modified xsi:type="dcterms:W3CDTF">2026-08-18T06:52:11Z</dcterms:modified>
</cp:coreProperties>
</file>